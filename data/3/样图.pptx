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2B03-1FC9-48F3-BB87-AABB015D6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146F3F-8F87-8743-EB77-58B60BE6C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7C328-C6B2-1E02-F943-1B8BBD4D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C9B8E-64CD-96C6-46CF-5C9BAF1C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5B012-B32B-A3B4-8B58-5F658EDC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8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D64E-89CE-DE52-E06B-5359B3FB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64A5C-4A06-F596-F3D1-AC7C30C1F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1F755-9B4D-A354-AEAB-C2614729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79A52-5603-3FBE-B232-0A512D3A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D33AB-E998-0F6C-C62C-FABB7686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6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C5C1-7D78-4F83-8274-CAB2BE74B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5E395-BD36-8011-B24B-9799115B9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3E57F-8F0D-B4F9-F36E-F3E45CCF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92953-6160-473F-B979-AB94E445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A058-21B6-AFA8-FF65-CCCCAA0E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2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F8E4-63E1-2796-AF35-A68049DE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DCB9D-7F41-D41D-0DCC-2B93D205A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61313-5D16-DFB9-FC30-471F0570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4DC2F-C621-563B-6985-40FC07927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67B15-5A78-B042-A673-A627398B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A516D-E708-BE98-2182-6C7445EA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3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3ACA-5E33-15EF-CF80-5458045B7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8F3FA-35D8-E348-9A91-E71D64664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A142D-52A1-81E2-2A72-67EC43D0E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ECAE0-8D56-A052-CDBD-A263C471F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3272D-7DB4-11BA-C301-2299C68A2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54E42-95D4-FFEC-5A41-1CEBBFA2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DAC674-7258-8B89-B387-EAE222B1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940F3F-5EDB-3A87-A830-1FFB9304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0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38F4-3D7F-452A-9B39-D1BE065C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87271-FF6D-6973-8043-C1F69866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B2072-D51C-AEAA-F1F3-89EC92D7D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18BFF8-9BA3-06E7-9903-D921F7BD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20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ED3C5-421A-88E7-CBEE-A6AAE3C8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99D5D-AED1-BEAA-08DC-262547ED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C458-39A8-1F32-093A-D1969269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6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41DB1-DA1C-2CA0-47BD-5205B715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D6243-1DEE-A5BF-AC37-F071A7BF6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F2A3D-1CD3-2A5F-4028-931A23F4A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71B74-BC28-2BC2-4422-C8D572B39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4A2E3-4D80-6C1D-C5A9-1AB9E52E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F8DC2-0A22-C5F2-13C2-47C12AB06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0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0CBF-0367-8B9D-ADAC-8996E5C53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98631-9C51-66BF-6D3A-C37B68109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BDDB2-D9BD-5ACF-E12E-6775DA976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F5032-3557-6CDE-57E4-2B1CDFE0E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C8B41-7D33-2C1A-BA3E-35B91018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9344E-F42C-D3BA-BDA1-1DC223687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7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B94A-0773-D77B-EE9F-47B8C7FD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95462-E35E-497F-C6DC-49F1E02A3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7F568-A56C-2881-D9D2-FD2C796C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2AB5-8ACB-04A9-C2E9-E1AAECA2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3BA6-31AE-A7DA-BC45-C397865E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53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89227-7FCD-C5FF-4538-30B993A2F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47842-F751-B2AF-76D7-18960982B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C3251-68CD-DE78-952A-DB79185B3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0ACAA-693C-5F55-8AF1-FD4C7AE1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96C2B-5195-EA40-8D97-19F1B028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2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CD330-6BEE-34B9-B3E9-15F69DD4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422E2-7FA9-C7E4-C7BC-60127E0C3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BF16-2E3A-350F-B7FB-661D57AC5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40667-AB9E-4D16-8D80-6D7571668FF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5EA5D-1A57-DCB4-44ED-09772AE12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88FF4-6BFF-C89E-D4BC-4501800C8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6697C-2A34-43FE-8F6B-BAC7468A0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7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57AC94-DB1C-3A61-7B21-61293C952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7" t="79333" r="5893" b="2478"/>
          <a:stretch>
            <a:fillRect/>
          </a:stretch>
        </p:blipFill>
        <p:spPr>
          <a:xfrm>
            <a:off x="819912" y="434260"/>
            <a:ext cx="9764268" cy="3916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1FDA15-1C60-1A62-7E9C-811335B5EB02}"/>
              </a:ext>
            </a:extLst>
          </p:cNvPr>
          <p:cNvSpPr txBox="1"/>
          <p:nvPr/>
        </p:nvSpPr>
        <p:spPr>
          <a:xfrm>
            <a:off x="172212" y="73645"/>
            <a:ext cx="896112" cy="323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</a:pPr>
            <a:r>
              <a:rPr lang="zh-CN" altLang="en-US" dirty="0"/>
              <a:t>纵轴</a:t>
            </a:r>
            <a:r>
              <a:rPr lang="en-US" dirty="0"/>
              <a:t>D1</a:t>
            </a:r>
          </a:p>
          <a:p>
            <a:pPr>
              <a:lnSpc>
                <a:spcPts val="3100"/>
              </a:lnSpc>
            </a:pPr>
            <a:r>
              <a:rPr lang="en-US" dirty="0"/>
              <a:t>D6 </a:t>
            </a:r>
          </a:p>
          <a:p>
            <a:pPr>
              <a:lnSpc>
                <a:spcPts val="3100"/>
              </a:lnSpc>
            </a:pPr>
            <a:r>
              <a:rPr lang="en-US" dirty="0"/>
              <a:t>D7</a:t>
            </a:r>
          </a:p>
          <a:p>
            <a:pPr>
              <a:lnSpc>
                <a:spcPts val="3100"/>
              </a:lnSpc>
            </a:pPr>
            <a:r>
              <a:rPr lang="en-US" dirty="0"/>
              <a:t>L43</a:t>
            </a:r>
          </a:p>
          <a:p>
            <a:pPr>
              <a:lnSpc>
                <a:spcPts val="3100"/>
              </a:lnSpc>
            </a:pPr>
            <a:r>
              <a:rPr lang="en-US" dirty="0"/>
              <a:t>L1091</a:t>
            </a:r>
          </a:p>
          <a:p>
            <a:pPr>
              <a:lnSpc>
                <a:spcPts val="3100"/>
              </a:lnSpc>
            </a:pPr>
            <a:r>
              <a:rPr lang="en-US" dirty="0"/>
              <a:t>L2182</a:t>
            </a:r>
          </a:p>
          <a:p>
            <a:pPr>
              <a:lnSpc>
                <a:spcPts val="3100"/>
              </a:lnSpc>
            </a:pPr>
            <a:r>
              <a:rPr lang="en-US" dirty="0"/>
              <a:t>L1253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26E10-17E2-8E29-BDD4-AD6AF1C1DB96}"/>
              </a:ext>
            </a:extLst>
          </p:cNvPr>
          <p:cNvSpPr txBox="1"/>
          <p:nvPr/>
        </p:nvSpPr>
        <p:spPr>
          <a:xfrm>
            <a:off x="1251204" y="249594"/>
            <a:ext cx="362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species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1C481-0320-F371-063F-C5F5BEF5B879}"/>
              </a:ext>
            </a:extLst>
          </p:cNvPr>
          <p:cNvSpPr txBox="1"/>
          <p:nvPr/>
        </p:nvSpPr>
        <p:spPr>
          <a:xfrm>
            <a:off x="3178302" y="249594"/>
            <a:ext cx="181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Dual species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FAF330-E381-0583-6A7D-2DF61E4B79E6}"/>
              </a:ext>
            </a:extLst>
          </p:cNvPr>
          <p:cNvSpPr txBox="1"/>
          <p:nvPr/>
        </p:nvSpPr>
        <p:spPr>
          <a:xfrm>
            <a:off x="5296662" y="249594"/>
            <a:ext cx="181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species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6C6A3-048B-865D-B207-7765471D58BE}"/>
              </a:ext>
            </a:extLst>
          </p:cNvPr>
          <p:cNvSpPr txBox="1"/>
          <p:nvPr/>
        </p:nvSpPr>
        <p:spPr>
          <a:xfrm>
            <a:off x="819912" y="4274155"/>
            <a:ext cx="36225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横轴</a:t>
            </a:r>
            <a:r>
              <a:rPr lang="en-US" sz="1100" dirty="0"/>
              <a:t>D1 D6 D7 L43 L1091 L2182 L1253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941294-5CDC-9C0B-EBDB-199B48B4A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177" y="4176617"/>
            <a:ext cx="771633" cy="29245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4421D0-D84B-5617-25B7-90D4409C7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922" y="4231362"/>
            <a:ext cx="952633" cy="25530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BF2F10-7495-E057-73F5-FCE6EC58384E}"/>
              </a:ext>
            </a:extLst>
          </p:cNvPr>
          <p:cNvSpPr txBox="1"/>
          <p:nvPr/>
        </p:nvSpPr>
        <p:spPr>
          <a:xfrm>
            <a:off x="7408164" y="4176617"/>
            <a:ext cx="1874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D1-D6-D7-L43</a:t>
            </a:r>
          </a:p>
          <a:p>
            <a:r>
              <a:rPr lang="en-US" dirty="0"/>
              <a:t>D1-D6-D7-L1091</a:t>
            </a:r>
          </a:p>
          <a:p>
            <a:r>
              <a:rPr lang="en-US" dirty="0"/>
              <a:t>D1-D6-D7-L1253</a:t>
            </a:r>
          </a:p>
          <a:p>
            <a:r>
              <a:rPr lang="en-US" dirty="0"/>
              <a:t>D1-D6-D7-L2182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3D414C-62B3-2188-DBAB-222C64DA24F1}"/>
              </a:ext>
            </a:extLst>
          </p:cNvPr>
          <p:cNvSpPr txBox="1"/>
          <p:nvPr/>
        </p:nvSpPr>
        <p:spPr>
          <a:xfrm>
            <a:off x="7396734" y="249594"/>
            <a:ext cx="1811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 species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D3AC18-8425-036E-AA7D-B25BA00648EE}"/>
              </a:ext>
            </a:extLst>
          </p:cNvPr>
          <p:cNvSpPr txBox="1"/>
          <p:nvPr/>
        </p:nvSpPr>
        <p:spPr>
          <a:xfrm>
            <a:off x="31949" y="5631214"/>
            <a:ext cx="185885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在</a:t>
            </a:r>
            <a:r>
              <a:rPr lang="en-US" altLang="zh-CN" sz="1050" dirty="0"/>
              <a:t>single species</a:t>
            </a:r>
            <a:r>
              <a:rPr lang="zh-CN" altLang="en-US" sz="1050" dirty="0"/>
              <a:t>这里</a:t>
            </a:r>
            <a:r>
              <a:rPr lang="en-US" altLang="zh-CN" sz="1050" dirty="0"/>
              <a:t>D1</a:t>
            </a:r>
            <a:r>
              <a:rPr lang="zh-CN" altLang="en-US" sz="1050" dirty="0"/>
              <a:t>就在</a:t>
            </a:r>
            <a:r>
              <a:rPr lang="en-US" altLang="zh-CN" sz="1050" dirty="0"/>
              <a:t>D1</a:t>
            </a:r>
            <a:r>
              <a:rPr lang="zh-CN" altLang="en-US" sz="1050" dirty="0"/>
              <a:t>的位置有圈圈，其他位置都不要画圈圈，其他</a:t>
            </a:r>
            <a:r>
              <a:rPr lang="en-US" altLang="zh-CN" sz="1050" dirty="0"/>
              <a:t>dual </a:t>
            </a:r>
            <a:r>
              <a:rPr lang="en-US" altLang="zh-CN" sz="1050" dirty="0" err="1"/>
              <a:t>thre</a:t>
            </a:r>
            <a:r>
              <a:rPr lang="en-US" altLang="zh-CN" sz="1050" dirty="0"/>
              <a:t>…</a:t>
            </a:r>
            <a:r>
              <a:rPr lang="zh-CN" altLang="en-US" sz="1050" dirty="0"/>
              <a:t>一样</a:t>
            </a:r>
            <a:endParaRPr lang="en-US" altLang="zh-CN" sz="1050" dirty="0"/>
          </a:p>
          <a:p>
            <a:r>
              <a:rPr lang="zh-CN" altLang="en-US" sz="1050" dirty="0"/>
              <a:t>配色跟这个一样或者用蓝色都行</a:t>
            </a:r>
            <a:endParaRPr lang="en-US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73D83F-CF30-2689-7FEC-95E80B33076D}"/>
              </a:ext>
            </a:extLst>
          </p:cNvPr>
          <p:cNvSpPr txBox="1"/>
          <p:nvPr/>
        </p:nvSpPr>
        <p:spPr>
          <a:xfrm>
            <a:off x="10568178" y="395516"/>
            <a:ext cx="16078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altLang="zh-CN" dirty="0"/>
              <a:t>iofilm cell number </a:t>
            </a:r>
            <a:r>
              <a:rPr lang="zh-CN" altLang="en-US" dirty="0"/>
              <a:t>（</a:t>
            </a:r>
            <a:r>
              <a:rPr lang="en-US" altLang="zh-CN" dirty="0"/>
              <a:t>CFU/mL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1C90BA-B2D9-230C-266D-90A338077DF0}"/>
              </a:ext>
            </a:extLst>
          </p:cNvPr>
          <p:cNvSpPr txBox="1"/>
          <p:nvPr/>
        </p:nvSpPr>
        <p:spPr>
          <a:xfrm>
            <a:off x="7456930" y="5685076"/>
            <a:ext cx="40462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数据分析要先算</a:t>
            </a:r>
            <a:r>
              <a:rPr lang="en-US" altLang="zh-CN" sz="1400" dirty="0"/>
              <a:t>MEAN AND SD</a:t>
            </a:r>
            <a:r>
              <a:rPr lang="zh-CN" altLang="en-US" sz="1400" dirty="0"/>
              <a:t>，如果同一物种在多菌属中的值大于单物种，则进行</a:t>
            </a:r>
            <a:r>
              <a:rPr lang="en-US" sz="1400" dirty="0"/>
              <a:t>Independent t-test</a:t>
            </a:r>
            <a:r>
              <a:rPr lang="zh-CN" altLang="en-US" sz="1400" dirty="0"/>
              <a:t>显著性分析。</a:t>
            </a:r>
            <a:r>
              <a:rPr lang="en-US" altLang="zh-CN" sz="1400" dirty="0"/>
              <a:t>P</a:t>
            </a:r>
            <a:r>
              <a:rPr lang="zh-CN" altLang="en-US" sz="1400" dirty="0"/>
              <a:t>小于</a:t>
            </a:r>
            <a:r>
              <a:rPr lang="en-US" altLang="zh-CN" sz="1400" dirty="0"/>
              <a:t>0.05</a:t>
            </a:r>
            <a:r>
              <a:rPr lang="zh-CN" altLang="en-US" sz="1400" dirty="0"/>
              <a:t>表示差异显著</a:t>
            </a:r>
            <a:r>
              <a:rPr lang="en-US" altLang="zh-CN" sz="1400" dirty="0"/>
              <a:t>.</a:t>
            </a:r>
            <a:r>
              <a:rPr lang="zh-CN" altLang="en-US" sz="1400" dirty="0"/>
              <a:t>用一个✳表示，</a:t>
            </a:r>
            <a:r>
              <a:rPr lang="en-US" altLang="zh-CN" sz="1400" dirty="0"/>
              <a:t> P</a:t>
            </a:r>
            <a:r>
              <a:rPr lang="zh-CN" altLang="en-US" sz="1400" dirty="0"/>
              <a:t>小于</a:t>
            </a:r>
            <a:r>
              <a:rPr lang="en-US" altLang="zh-CN" sz="1400" dirty="0"/>
              <a:t>0.01</a:t>
            </a:r>
            <a:r>
              <a:rPr lang="zh-CN" altLang="en-US" sz="1400" dirty="0"/>
              <a:t>用一个✳ ✳表示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847371-2261-2880-0E31-41EB157FB95B}"/>
              </a:ext>
            </a:extLst>
          </p:cNvPr>
          <p:cNvSpPr txBox="1"/>
          <p:nvPr/>
        </p:nvSpPr>
        <p:spPr>
          <a:xfrm>
            <a:off x="10361676" y="2828835"/>
            <a:ext cx="16908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颜色，表示的值是同一菌属在多物种生物膜中的值</a:t>
            </a:r>
            <a:r>
              <a:rPr lang="en-US" altLang="zh-CN" sz="1200" dirty="0"/>
              <a:t>-</a:t>
            </a:r>
            <a:r>
              <a:rPr lang="zh-CN" altLang="en-US" sz="1200" dirty="0"/>
              <a:t>单物种的值</a:t>
            </a:r>
            <a:r>
              <a:rPr lang="en-US" altLang="zh-CN" sz="1200" dirty="0"/>
              <a:t>.</a:t>
            </a:r>
            <a:r>
              <a:rPr lang="zh-CN" altLang="en-US" sz="1200" dirty="0"/>
              <a:t>例如</a:t>
            </a:r>
            <a:r>
              <a:rPr lang="en-US" altLang="zh-CN" sz="1200" dirty="0"/>
              <a:t>D1-D6</a:t>
            </a:r>
            <a:r>
              <a:rPr lang="zh-CN" altLang="en-US" sz="1200" dirty="0"/>
              <a:t>这个组合中</a:t>
            </a:r>
            <a:r>
              <a:rPr lang="en-US" altLang="zh-CN" sz="1200" dirty="0"/>
              <a:t>D1</a:t>
            </a:r>
            <a:r>
              <a:rPr lang="zh-CN" altLang="en-US" sz="1200" dirty="0"/>
              <a:t>的值</a:t>
            </a:r>
            <a:r>
              <a:rPr lang="en-US" altLang="zh-CN" sz="1200" dirty="0"/>
              <a:t>-D1</a:t>
            </a:r>
            <a:r>
              <a:rPr lang="zh-CN" altLang="en-US" sz="1200" dirty="0"/>
              <a:t>在</a:t>
            </a:r>
            <a:r>
              <a:rPr lang="en-US" altLang="zh-CN" sz="1200" dirty="0"/>
              <a:t>single species</a:t>
            </a:r>
            <a:r>
              <a:rPr lang="zh-CN" altLang="en-US" sz="1200" dirty="0"/>
              <a:t>的值</a:t>
            </a:r>
            <a:r>
              <a:rPr lang="en-US" altLang="zh-CN" sz="1200" dirty="0"/>
              <a:t>.</a:t>
            </a:r>
            <a:r>
              <a:rPr lang="zh-CN" altLang="en-US" sz="1200" dirty="0"/>
              <a:t>所以图例显示的数字是</a:t>
            </a:r>
            <a:r>
              <a:rPr lang="en-US" altLang="zh-CN" sz="1200" dirty="0"/>
              <a:t>-2 -1 0 1</a:t>
            </a:r>
            <a:r>
              <a:rPr lang="zh-CN" altLang="en-US" sz="1200" dirty="0"/>
              <a:t>这样子（举例）</a:t>
            </a:r>
            <a:endParaRPr lang="en-US" sz="1200" dirty="0"/>
          </a:p>
        </p:txBody>
      </p:sp>
      <p:sp>
        <p:nvSpPr>
          <p:cNvPr id="24" name="Arrow: Curved Left 23">
            <a:extLst>
              <a:ext uri="{FF2B5EF4-FFF2-40B4-BE49-F238E27FC236}">
                <a16:creationId xmlns:a16="http://schemas.microsoft.com/office/drawing/2014/main" id="{4CDAEC2B-2289-7BB8-020F-A66C084AA0F1}"/>
              </a:ext>
            </a:extLst>
          </p:cNvPr>
          <p:cNvSpPr/>
          <p:nvPr/>
        </p:nvSpPr>
        <p:spPr>
          <a:xfrm>
            <a:off x="11087099" y="4398495"/>
            <a:ext cx="416052" cy="124041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439FBB-B190-43C5-E3DA-D5DDD8AD06E2}"/>
              </a:ext>
            </a:extLst>
          </p:cNvPr>
          <p:cNvSpPr txBox="1"/>
          <p:nvPr/>
        </p:nvSpPr>
        <p:spPr>
          <a:xfrm>
            <a:off x="10358524" y="1882422"/>
            <a:ext cx="2506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/>
              <a:t>Δ </a:t>
            </a:r>
            <a:r>
              <a:rPr lang="en-US" dirty="0"/>
              <a:t>Biofilm Value</a:t>
            </a:r>
          </a:p>
          <a:p>
            <a:r>
              <a:rPr lang="en-US" dirty="0"/>
              <a:t>(Multispecies − </a:t>
            </a:r>
            <a:r>
              <a:rPr lang="en-US" dirty="0" err="1"/>
              <a:t>Monospecies</a:t>
            </a:r>
            <a:r>
              <a:rPr lang="en-US" dirty="0"/>
              <a:t>)</a:t>
            </a:r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216FA67C-1D1F-7A8A-86F6-A9BCB3ACE3B6}"/>
              </a:ext>
            </a:extLst>
          </p:cNvPr>
          <p:cNvSpPr/>
          <p:nvPr/>
        </p:nvSpPr>
        <p:spPr>
          <a:xfrm rot="19194164">
            <a:off x="10402015" y="618926"/>
            <a:ext cx="219456" cy="7601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957BB294-15B7-59B5-6543-92D92E640FF9}"/>
              </a:ext>
            </a:extLst>
          </p:cNvPr>
          <p:cNvSpPr/>
          <p:nvPr/>
        </p:nvSpPr>
        <p:spPr>
          <a:xfrm rot="19194164">
            <a:off x="10140378" y="2344930"/>
            <a:ext cx="219456" cy="7601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9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 Li</dc:creator>
  <cp:lastModifiedBy>Ran Li</cp:lastModifiedBy>
  <cp:revision>2</cp:revision>
  <dcterms:created xsi:type="dcterms:W3CDTF">2026-06-04T17:40:28Z</dcterms:created>
  <dcterms:modified xsi:type="dcterms:W3CDTF">2026-06-04T18:33:49Z</dcterms:modified>
</cp:coreProperties>
</file>